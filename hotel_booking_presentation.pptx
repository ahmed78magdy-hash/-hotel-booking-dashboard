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22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9659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F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KINGDOM TRAVEL SERVICES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37744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Booking Data Analysis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4290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Analysis &amp; Key Findings — 119,207 Bookings (2015–2017)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2011680" cy="0"/>
          </a:xfrm>
          <a:prstGeom prst="line">
            <a:avLst/>
          </a:prstGeom>
          <a:noFill/>
          <a:ln w="25400">
            <a:solidFill>
              <a:srgbClr val="2FA4C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 &amp; Data Analytics  |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5361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Methodology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4708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119,390 raw rows became 119,207 clean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313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Drivers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62432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predicts a booking falling through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09067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Pricing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40156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comes from, and the risk behind 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886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867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Profile &amp; Behavior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17880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books, how long they stay, and if they return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6634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663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64515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Volume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9560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mix, seasonality, and booking reliability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440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5440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422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573328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for the business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findings, drawn from 119,207 cleaned bookings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119,207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2996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bookings analyzed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337560" y="13716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202996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bookings via travel agents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3716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34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99.4%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02996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on Non Refund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13716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34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915400" y="202996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rate at 180+ day lead time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53512"/>
            <a:ext cx="73152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288036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tracks commitment (lead time, special requests, changes) far more than price.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639312"/>
            <a:ext cx="73152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56616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"Non Refund" deposits are cancelling almost universally — concentrated in agency Group bookings.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325112"/>
            <a:ext cx="73152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25196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Hotel drives more volume; Resort Hotel converts a higher share of bookings into real stays.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010912"/>
            <a:ext cx="73152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93776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guests are only 3% of bookings but cancel at less than half the rate of first-timers.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92608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Data Cleaning &amp; Methodology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3703320"/>
            <a:ext cx="1463040" cy="0"/>
          </a:xfrm>
          <a:prstGeom prst="line">
            <a:avLst/>
          </a:prstGeom>
          <a:noFill/>
          <a:ln w="38100">
            <a:solidFill>
              <a:srgbClr val="2FA4C7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File to Clean Dataset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119,390 rows imported via LOAD DATA LOCAL INFILE, cleaned in MySQL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30175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Issue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Rows Affected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Exact duplicate row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Removed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Negative price (adr &lt; 0)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Removed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Zero-guest bookings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180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Removed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Extreme price outlier (adr = 5,400)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Removed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Blank agent / company / country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16,340 / 112,593 / 488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Kept — genuinely missing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6634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119,207 clean rows. No true NULLs, no literal "NULL" text, no spacing or casing inconsistencies found in any categorical column.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92608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Cancellation Drivers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3703320"/>
            <a:ext cx="1463040" cy="0"/>
          </a:xfrm>
          <a:prstGeom prst="line">
            <a:avLst/>
          </a:prstGeom>
          <a:noFill/>
          <a:ln w="38100">
            <a:solidFill>
              <a:srgbClr val="2FA4C7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Cancellation Rate by Hotel Type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Hotel cancels notably more often than Resort Hotel</a:t>
            </a:r>
            <a:endParaRPr lang="en-US" sz="1400" dirty="0"/>
          </a:p>
        </p:txBody>
      </p:sp>
      <p:pic>
        <p:nvPicPr>
          <p:cNvPr id="4" name="Image 0" descr="charts/01_cancel_by_hot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1371600"/>
            <a:ext cx="79552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Cancellation Rate by Arrival Month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Peaks in spring and early summer arrivals</a:t>
            </a:r>
            <a:endParaRPr lang="en-US" sz="1400" dirty="0"/>
          </a:p>
        </p:txBody>
      </p:sp>
      <p:pic>
        <p:nvPicPr>
          <p:cNvPr id="4" name="Image 0" descr="charts/02_cancel_by_mon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1371600"/>
            <a:ext cx="79552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Non Refund / Groups Anomaly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Non-refundable bookings cancel at 99.4% — the opposite of intended behavior</a:t>
            </a:r>
            <a:endParaRPr lang="en-US" sz="1400" dirty="0"/>
          </a:p>
        </p:txBody>
      </p:sp>
      <p:pic>
        <p:nvPicPr>
          <p:cNvPr id="4" name="Image 0" descr="charts/07_deposit_seg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417320"/>
            <a:ext cx="5577840" cy="32552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463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93.6% of Non Refund bookings arrive via the TA/TO channel — largely provisional agency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holds, not genuine non-cancellable guest commitments.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Cancellation Risk Rises With Lead Time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9.6% at 0-7 days climbs to 57.0% at 180+ days</a:t>
            </a:r>
            <a:endParaRPr lang="en-US" sz="1400" dirty="0"/>
          </a:p>
        </p:txBody>
      </p:sp>
      <p:pic>
        <p:nvPicPr>
          <p:cNvPr id="4" name="Image 0" descr="charts/08_lead_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1371600"/>
            <a:ext cx="79552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Changes Signal Real Commitment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bookings cancel at less than half the rate of untouched ones</a:t>
            </a:r>
            <a:endParaRPr lang="en-US" sz="1400" dirty="0"/>
          </a:p>
        </p:txBody>
      </p:sp>
      <p:pic>
        <p:nvPicPr>
          <p:cNvPr id="4" name="Image 0" descr="charts/10_booking_chan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1280160"/>
            <a:ext cx="63093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Drives Cancellation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across all numeric booking factors confirms the pattern</a:t>
            </a:r>
            <a:endParaRPr lang="en-US" sz="1400" dirty="0"/>
          </a:p>
        </p:txBody>
      </p:sp>
      <p:pic>
        <p:nvPicPr>
          <p:cNvPr id="4" name="Image 0" descr="charts/19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188720"/>
            <a:ext cx="5029200" cy="4114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signals: lead time (+0.29), special requests (-0.23),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spaces (-0.20), booking changes (-0.14).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92608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Revenue &amp; Pricing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3703320"/>
            <a:ext cx="1463040" cy="0"/>
          </a:xfrm>
          <a:prstGeom prst="line">
            <a:avLst/>
          </a:prstGeom>
          <a:noFill/>
          <a:ln w="38100">
            <a:solidFill>
              <a:srgbClr val="2FA4C7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Daily Rate by Month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peaks align with the summer travel season</a:t>
            </a:r>
            <a:endParaRPr lang="en-US" sz="1400" dirty="0"/>
          </a:p>
        </p:txBody>
      </p:sp>
      <p:pic>
        <p:nvPicPr>
          <p:cNvPr id="4" name="Image 0" descr="charts/03_adr_by_mon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1371600"/>
            <a:ext cx="79552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vs. Cancellation Risk by Segment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bookings: strong price, lowest risk. Groups: lowest price, highest risk.</a:t>
            </a:r>
            <a:endParaRPr lang="en-US" sz="1400" dirty="0"/>
          </a:p>
        </p:txBody>
      </p:sp>
      <p:pic>
        <p:nvPicPr>
          <p:cNvPr id="4" name="Image 0" descr="charts/09_price_vs_cancel_seg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533" y="1417319"/>
            <a:ext cx="6993467" cy="435694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92608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Guest Profile &amp; Behavior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3703320"/>
            <a:ext cx="1463040" cy="0"/>
          </a:xfrm>
          <a:prstGeom prst="line">
            <a:avLst/>
          </a:prstGeom>
          <a:noFill/>
          <a:ln w="38100">
            <a:solidFill>
              <a:srgbClr val="2FA4C7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Guest Countries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origin by total booking volume</a:t>
            </a:r>
            <a:endParaRPr lang="en-US" sz="1400" dirty="0"/>
          </a:p>
        </p:txBody>
      </p:sp>
      <p:pic>
        <p:nvPicPr>
          <p:cNvPr id="4" name="Image 0" descr="charts/04_top_count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1371600"/>
            <a:ext cx="79552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Bookings by Customer Type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guests dominate the customer mix</a:t>
            </a:r>
            <a:endParaRPr lang="en-US" sz="1400" dirty="0"/>
          </a:p>
        </p:txBody>
      </p:sp>
      <p:pic>
        <p:nvPicPr>
          <p:cNvPr id="4" name="Image 0" descr="charts/05_customer_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867" y="1280160"/>
            <a:ext cx="7931573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Length of Stay Distribution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stays cluster between 1 and 4 nights</a:t>
            </a:r>
            <a:endParaRPr lang="en-US" sz="1400" dirty="0"/>
          </a:p>
        </p:txBody>
      </p:sp>
      <p:pic>
        <p:nvPicPr>
          <p:cNvPr id="4" name="Image 0" descr="charts/06_length_of_st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1371600"/>
            <a:ext cx="79552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 Guests: Rare but Reliable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3.1% of bookings, yet far less likely to cancel</a:t>
            </a:r>
            <a:endParaRPr lang="en-US" sz="1400" dirty="0"/>
          </a:p>
        </p:txBody>
      </p:sp>
      <p:pic>
        <p:nvPicPr>
          <p:cNvPr id="4" name="Image 0" descr="charts/12_repeat_gues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554480"/>
            <a:ext cx="94183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92608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 Operations &amp; Booking Volume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3703320"/>
            <a:ext cx="1463040" cy="0"/>
          </a:xfrm>
          <a:prstGeom prst="line">
            <a:avLst/>
          </a:prstGeom>
          <a:noFill/>
          <a:ln w="38100">
            <a:solidFill>
              <a:srgbClr val="2FA4C7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Bookings per Month by Hotel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volume across both properties</a:t>
            </a:r>
            <a:endParaRPr lang="en-US" sz="1400" dirty="0"/>
          </a:p>
        </p:txBody>
      </p:sp>
      <p:pic>
        <p:nvPicPr>
          <p:cNvPr id="4" name="Image 0" descr="charts/13_bookings_per_mon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1371600"/>
            <a:ext cx="86868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Bookings per Year by Hotel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and 2017 are partial years; 2016 is the only full year</a:t>
            </a:r>
            <a:endParaRPr lang="en-US" sz="1400" dirty="0"/>
          </a:p>
        </p:txBody>
      </p:sp>
      <p:pic>
        <p:nvPicPr>
          <p:cNvPr id="4" name="Image 0" descr="charts/14_bookings_per_y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1280160"/>
            <a:ext cx="59436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vs. Reliability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Hotel leads on volume; Resort Hotel leads on reliability</a:t>
            </a:r>
            <a:endParaRPr lang="en-US" sz="1400" dirty="0"/>
          </a:p>
        </p:txBody>
      </p:sp>
      <p:pic>
        <p:nvPicPr>
          <p:cNvPr id="4" name="Image 0" descr="charts/15_volume_vs_reli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554480"/>
            <a:ext cx="97840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Outcome by Hotel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Resort Hotel converts more bookings into real stays</a:t>
            </a:r>
            <a:endParaRPr lang="en-US" sz="1400" dirty="0"/>
          </a:p>
        </p:txBody>
      </p:sp>
      <p:pic>
        <p:nvPicPr>
          <p:cNvPr id="4" name="Image 0" descr="charts/16_booking_out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1371600"/>
            <a:ext cx="74066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Bookings by Distribution Channel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TA/TO dominates both hotels — and drives most cancellation risk</a:t>
            </a:r>
            <a:endParaRPr lang="en-US" sz="1400" dirty="0"/>
          </a:p>
        </p:txBody>
      </p:sp>
      <p:pic>
        <p:nvPicPr>
          <p:cNvPr id="4" name="Image 0" descr="charts/17_distribution_cha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1371600"/>
            <a:ext cx="72237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Meal Plan Preference by Hotel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&amp; Breakfast is the clear favorite at both properties</a:t>
            </a:r>
            <a:endParaRPr lang="en-US" sz="1400" dirty="0"/>
          </a:p>
        </p:txBody>
      </p:sp>
      <p:pic>
        <p:nvPicPr>
          <p:cNvPr id="4" name="Image 0" descr="charts/18_meal_pl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1371600"/>
            <a:ext cx="72237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92608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 Recommendations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3703320"/>
            <a:ext cx="1463040" cy="0"/>
          </a:xfrm>
          <a:prstGeom prst="line">
            <a:avLst/>
          </a:prstGeom>
          <a:noFill/>
          <a:ln w="38100">
            <a:solidFill>
              <a:srgbClr val="2FA4C7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Actions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3560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deposit/cancellation policy for TA/TO Group bookings — "Non Refund" is not deterring cancellations.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35000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stricter confirmation or deposit requirements on bookings made 90+ days in advance.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26440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why City Hotel converts fewer bookings into stays than Resort Hotel.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17880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loyalty incentives to grow the repeat-guest base — small today, but highly reliable.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509320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special requests, parking add-ons, and booking edits as early signals of real guest commitment.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5661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Kingdom Travel Services — Quality Assurance &amp; Data Analytics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778</Words>
  <Application>Microsoft Office PowerPoint</Application>
  <PresentationFormat>Widescreen</PresentationFormat>
  <Paragraphs>147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3</cp:revision>
  <dcterms:created xsi:type="dcterms:W3CDTF">2026-09-02T09:12:47Z</dcterms:created>
  <dcterms:modified xsi:type="dcterms:W3CDTF">2026-09-02T09:43:59Z</dcterms:modified>
</cp:coreProperties>
</file>